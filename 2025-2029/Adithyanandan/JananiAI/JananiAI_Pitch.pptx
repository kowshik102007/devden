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1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384048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502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JananiAI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49808" y="17190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Maternal Risk Flagging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21762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ASHA Workers at the Last Mile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9077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 maa surakshit ho" — Every mother is safe.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3429000"/>
            <a:ext cx="5029200" cy="0"/>
          </a:xfrm>
          <a:prstGeom prst="line">
            <a:avLst/>
          </a:prstGeom>
          <a:noFill/>
          <a:ln w="9525">
            <a:solidFill>
              <a:srgbClr val="2E3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Track  ·  Gradient 1.0  ·  Team </a:t>
            </a:r>
            <a:r>
              <a:rPr lang="en-US" sz="1050" dirty="0" err="1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59168" y="548640"/>
            <a:ext cx="1783080" cy="1261872"/>
          </a:xfrm>
          <a:prstGeom prst="rect">
            <a:avLst/>
          </a:prstGeom>
          <a:solidFill>
            <a:srgbClr val="243040"/>
          </a:solidFill>
          <a:ln w="12700">
            <a:solidFill>
              <a:srgbClr val="2E3D52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59168" y="548640"/>
            <a:ext cx="1783080" cy="457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6400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5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44,000+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50608" y="11704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deaths per year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59168" y="2029968"/>
            <a:ext cx="1783080" cy="1261872"/>
          </a:xfrm>
          <a:prstGeom prst="rect">
            <a:avLst/>
          </a:prstGeom>
          <a:solidFill>
            <a:srgbClr val="243040"/>
          </a:solidFill>
          <a:ln w="12700">
            <a:solidFill>
              <a:srgbClr val="2E3D52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59168" y="2029968"/>
            <a:ext cx="1783080" cy="4572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21214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million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150608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using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59168" y="3511296"/>
            <a:ext cx="1783080" cy="1261872"/>
          </a:xfrm>
          <a:prstGeom prst="rect">
            <a:avLst/>
          </a:prstGeom>
          <a:solidFill>
            <a:srgbClr val="243040"/>
          </a:solidFill>
          <a:ln w="12700">
            <a:solidFill>
              <a:srgbClr val="2E3D52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59168" y="3511296"/>
            <a:ext cx="1783080" cy="45720"/>
          </a:xfrm>
          <a:prstGeom prst="rect">
            <a:avLst/>
          </a:prstGeom>
          <a:solidFill>
            <a:srgbClr val="1B8A7E"/>
          </a:solidFill>
          <a:ln w="12700">
            <a:solidFill>
              <a:srgbClr val="1B8A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360273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50608" y="4133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deaths preventable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action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broken chain between data and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050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618488"/>
            <a:ext cx="420624" cy="420624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19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161848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triage at the point of care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" y="2130552"/>
            <a:ext cx="3602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record vitals on paper registers. There is no tool that tells a worker which patient needs urgent escalation today.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050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618488"/>
            <a:ext cx="420624" cy="420624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719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61848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Undertrained for clinical signs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64608" y="2130552"/>
            <a:ext cx="3602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Pre-eclampsia, severe anaemia, IUGR — signs routinely missed without clinical training. Workers are expected to refer without knowing why.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3200400"/>
            <a:ext cx="40050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" y="3401568"/>
            <a:ext cx="420624" cy="420624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5021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1288" y="34015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preventive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2648" y="3913632"/>
            <a:ext cx="3602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happen after visible deterioration. PHC doctors are overloaded and see patients without any contextual risk summary.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40050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3401568"/>
            <a:ext cx="420624" cy="420624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5021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3248" y="34015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designed for the last mile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64608" y="3913632"/>
            <a:ext cx="3602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assume internet access, smartphones, and English. None are designed for Barmer, Palamu, or Surguja.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JananiAI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offline-first clinical decision support tool built specifically for ASHA workers. It ingests routine vitals collected during home visits and outputs a clear, colour-coded risk flag — in Hindi — telling the worker exactly what to do next.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670048"/>
            <a:ext cx="4160520" cy="585216"/>
          </a:xfrm>
          <a:prstGeom prst="rect">
            <a:avLst/>
          </a:prstGeom>
          <a:solidFill>
            <a:srgbClr val="E8F5F3"/>
          </a:solidFill>
          <a:ln w="12700">
            <a:solidFill>
              <a:srgbClr val="1B8A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670048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An actual clinical decision support tool — designed around ASHA workflows, not against them.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74920" y="987552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30368" y="1170432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28016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97296" y="1078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97296" y="14081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basic Android, zero internet needed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74920" y="1993392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30368" y="2176272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28600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97296" y="2084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 Seconds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97296" y="24140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 inference under 500ms on device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74920" y="2999232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30368" y="3182112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329184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97296" y="30906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Voice Readout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797296" y="3419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action, no English required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74920" y="4005072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30368" y="4187952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429768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97296" y="40965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History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797296" y="44256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trends across the full pregnancy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home visit to safe escalation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1325880"/>
            <a:ext cx="1965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18488" y="1527048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627632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" y="2167128"/>
            <a:ext cx="1618488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2313432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Visit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5488" y="2807208"/>
            <a:ext cx="16367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enters BP, Hb, weight, foetal HR, urine protein — all collectable with basic equipment at home visit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76856" y="3081528"/>
            <a:ext cx="173736" cy="0"/>
          </a:xfrm>
          <a:prstGeom prst="line">
            <a:avLst/>
          </a:prstGeom>
          <a:noFill/>
          <a:ln w="12700">
            <a:solidFill>
              <a:srgbClr val="7A88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9736" y="1325880"/>
            <a:ext cx="1965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42616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642616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785616" y="1527048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627632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642616" y="2167128"/>
            <a:ext cx="1618488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2313432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2807208"/>
            <a:ext cx="16367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 processes 13 clinical features entirely on-device. No internet. No cloud. Inference in under 500ms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443984" y="3081528"/>
            <a:ext cx="173736" cy="0"/>
          </a:xfrm>
          <a:prstGeom prst="line">
            <a:avLst/>
          </a:prstGeom>
          <a:noFill/>
          <a:ln w="12700">
            <a:solidFill>
              <a:srgbClr val="7A889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26864" y="1325880"/>
            <a:ext cx="1965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809744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809744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5952744" y="1527048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1627632"/>
            <a:ext cx="237744" cy="23774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809744" y="2167128"/>
            <a:ext cx="1618488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09744" y="2313432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Card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4809744" y="2807208"/>
            <a:ext cx="16367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YELLOW / RED card with Hindi voice readout: the reason and the exact action. No ambiguity left to chance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611112" y="3081528"/>
            <a:ext cx="173736" cy="0"/>
          </a:xfrm>
          <a:prstGeom prst="line">
            <a:avLst/>
          </a:prstGeom>
          <a:noFill/>
          <a:ln w="12700">
            <a:solidFill>
              <a:srgbClr val="7A889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793992" y="1325880"/>
            <a:ext cx="1965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976872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6976872" y="1527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4" name="Shape 29"/>
          <p:cNvSpPr/>
          <p:nvPr/>
        </p:nvSpPr>
        <p:spPr>
          <a:xfrm>
            <a:off x="8119872" y="1527048"/>
            <a:ext cx="438912" cy="438912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1627632"/>
            <a:ext cx="237744" cy="23774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976872" y="2167128"/>
            <a:ext cx="1618488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976872" y="2313432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6976872" y="2807208"/>
            <a:ext cx="16367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call 108, alert ANM supervisor, or navigate to the nearest PHC with directions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292608" y="4818888"/>
            <a:ext cx="8558784" cy="201168"/>
          </a:xfrm>
          <a:prstGeom prst="rect">
            <a:avLst/>
          </a:prstGeom>
          <a:solidFill>
            <a:srgbClr val="FFF5F3"/>
          </a:solidFill>
          <a:ln w="12700">
            <a:solidFill>
              <a:srgbClr val="FFCDC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Sunita Devi, Barmer: BP 148/96, Hb 8.2 g/dL, protein 1+  →  RED flag  →  Hindi voice alert  →  108 dialled in one tap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design decisions that actually matter in the field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28016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444752"/>
            <a:ext cx="402336" cy="402336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54533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0817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2064" y="1938528"/>
            <a:ext cx="2322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on a ₹8,000 Android phone (4GB RAM). No internet dependency. Works in areas with zero signal.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64992" y="1444752"/>
            <a:ext cx="402336" cy="402336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54533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77056" y="140817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Low-Literacy Workflows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64992" y="1938528"/>
            <a:ext cx="2322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cards, icon navigation, Hindi TTS. No English required. Designed with ASHA workflows, not against them.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53328" y="128016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44752"/>
            <a:ext cx="402336" cy="402336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54533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9984" y="140817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Flags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17920" y="1938528"/>
            <a:ext cx="2322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SHAP-derived reasons in plain Hindi. 'BP 3 visits mein badh raha hai' — not just a risk score with no context.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47472" y="312724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" y="3291840"/>
            <a:ext cx="402336" cy="402336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39242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325526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12064" y="3785616"/>
            <a:ext cx="2322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fine-tunes on district data during sync. No raw patient data leaves the device. Privacy by design.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312724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64992" y="3291840"/>
            <a:ext cx="402336" cy="402336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576" y="339242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77056" y="325526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RCH Export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64992" y="3785616"/>
            <a:ext cx="2322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FHIR R4 export. Plugs into existing government health infrastructure. Reduces duplicate data entry.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53328" y="312724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291840"/>
            <a:ext cx="402336" cy="402336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392424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9984" y="325526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Risk Scoring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17920" y="3785616"/>
            <a:ext cx="2322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neonatal complications — preterm, LBW, birth asphyxia risk — from the maternal profile pre-delivery.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IMPACT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verifiable, not just impressive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1261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664208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→ TensorFlow Lite (.tflite, &lt; 2 MB)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4160520" cy="429768"/>
          </a:xfrm>
          <a:prstGeom prst="rect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39696"/>
            <a:ext cx="1261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139696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→ Hindi reason templates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15184"/>
            <a:ext cx="1261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615184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Kotlin + SQLite + MPAndroidChart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4160520" cy="429768"/>
          </a:xfrm>
          <a:prstGeom prst="rect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90672"/>
            <a:ext cx="1261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3090672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TTS, Hindi (hi_IN), fully offline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566160"/>
            <a:ext cx="1261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Interop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566160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+ ABDM Health ID export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64208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0368" y="1664208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~2.5 Cr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166420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pregnancies in rural India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246888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30368" y="2468880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246888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as direct users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327355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101600" dist="254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30368" y="327355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≤40%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0" y="327355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PHC consultation 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4187952"/>
            <a:ext cx="3749040" cy="658368"/>
          </a:xfrm>
          <a:prstGeom prst="rect">
            <a:avLst/>
          </a:prstGeom>
          <a:solidFill>
            <a:srgbClr val="E8F5F3"/>
          </a:solidFill>
          <a:ln w="12700">
            <a:solidFill>
              <a:srgbClr val="1B8A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4224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Alignment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4480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3.1 (Maternal Mortality)  ·  SDG 3.2 (Neonatal)  ·  SDG 10 (Inequality)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Mission  ·  LaQshya Programme  ·  ABDM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2793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129844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720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/>
              <a:t>Adithyanandan</a:t>
            </a:r>
            <a:r>
              <a:rPr lang="en-US" sz="950" dirty="0"/>
              <a:t> A</a:t>
            </a:r>
          </a:p>
        </p:txBody>
      </p:sp>
      <p:sp>
        <p:nvSpPr>
          <p:cNvPr id="36" name="Text 34"/>
          <p:cNvSpPr/>
          <p:nvPr/>
        </p:nvSpPr>
        <p:spPr>
          <a:xfrm>
            <a:off x="548640" y="47731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pipeline, TFLite, SHAP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74520" y="4553712"/>
            <a:ext cx="129844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45720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/>
              <a:t>Amrithalekshmy G</a:t>
            </a:r>
          </a:p>
        </p:txBody>
      </p:sp>
      <p:sp>
        <p:nvSpPr>
          <p:cNvPr id="39" name="Text 37"/>
          <p:cNvSpPr/>
          <p:nvPr/>
        </p:nvSpPr>
        <p:spPr>
          <a:xfrm>
            <a:off x="1965960" y="47731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app, SQLite, TTS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4553712"/>
            <a:ext cx="129844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45720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A Punit Raveendran</a:t>
            </a:r>
          </a:p>
        </p:txBody>
      </p:sp>
      <p:sp>
        <p:nvSpPr>
          <p:cNvPr id="42" name="Text 40"/>
          <p:cNvSpPr/>
          <p:nvPr/>
        </p:nvSpPr>
        <p:spPr>
          <a:xfrm>
            <a:off x="3383280" y="47731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dashboard, Integration and debugging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411480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594360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year, 44,000 Indian mothers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1170432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come home.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5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them didn't have to die."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" y="2487168"/>
            <a:ext cx="5029200" cy="0"/>
          </a:xfrm>
          <a:prstGeom prst="line">
            <a:avLst/>
          </a:prstGeom>
          <a:noFill/>
          <a:ln w="9525">
            <a:solidFill>
              <a:srgbClr val="2E3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65176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JananiAI puts a clinical safety net in the hands of a million ASHA workers —</a:t>
            </a:r>
            <a:endParaRPr lang="en-US" sz="14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in Hindi, on a ₹8,000 phone.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9808" y="3566160"/>
            <a:ext cx="3108960" cy="530352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5661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maa surakshit ho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05072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mother is safe.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4736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JananiAI  ·  Gradient 1.0 ·  Team </a:t>
            </a:r>
            <a:r>
              <a:rPr lang="en-US" sz="950" dirty="0" err="1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Faah</a:t>
            </a: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783</Words>
  <Application>Microsoft Office PowerPoint</Application>
  <PresentationFormat>On-screen Show (16:9)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Punit Divith</cp:lastModifiedBy>
  <cp:revision>2</cp:revision>
  <dcterms:created xsi:type="dcterms:W3CDTF">2026-05-01T03:17:47Z</dcterms:created>
  <dcterms:modified xsi:type="dcterms:W3CDTF">2026-05-01T03:24:38Z</dcterms:modified>
</cp:coreProperties>
</file>